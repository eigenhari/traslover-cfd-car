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57" r:id="rId9"/>
    <p:sldId id="264" r:id="rId10"/>
    <p:sldId id="265" r:id="rId11"/>
    <p:sldId id="267" r:id="rId12"/>
    <p:sldId id="269" r:id="rId13"/>
    <p:sldId id="270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JvFSpWMXhr3mtuhaKVDSmN3Qx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868c4f2e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2f868c4f2e8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2f868c4f2e8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868c4f2e8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2f868c4f2e8_1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g2f868c4f2e8_1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f868c4f2e8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f868c4f2e8_1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g2f868c4f2e8_1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f868c4f2e8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2f868c4f2e8_1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2f868c4f2e8_1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868c4f2e8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2f868c4f2e8_1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2f868c4f2e8_1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f868c4f2e8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2f868c4f2e8_1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2f868c4f2e8_1_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e4dff18ef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2ee4dff18ef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g2ee4dff18ef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e4dff18ef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2ee4dff18ef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g2ee4dff18ef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51556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e4dff18ef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2ee4dff18ef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g2ee4dff18ef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690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f868c4f2e8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2f868c4f2e8_1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2f868c4f2e8_1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09476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f868c4f2e8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2f868c4f2e8_1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2f868c4f2e8_1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4157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f868c4f2e8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2f868c4f2e8_1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2f868c4f2e8_1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0601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f868c4f2e8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2f868c4f2e8_1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2f868c4f2e8_1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607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 amt="19000"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3050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831851" y="4819650"/>
            <a:ext cx="10515600" cy="127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rot="5400000">
            <a:off x="7133433" y="1956594"/>
            <a:ext cx="5811838" cy="2628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1799433" y="-596106"/>
            <a:ext cx="5811838" cy="7734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 amt="19000"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449150" y="1122375"/>
            <a:ext cx="11325300" cy="2387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AnK [Accelerated Komputing]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err="1"/>
              <a:t>Transolver</a:t>
            </a: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01/10/2025</a:t>
            </a:r>
            <a:endParaRPr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Copyright © AnK Pvt. Ltd. All Rights Reserved.</a:t>
            </a:r>
            <a:endParaRPr>
              <a:solidFill>
                <a:srgbClr val="7F7F7F"/>
              </a:solidFill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8B4CBC-94E0-D1CC-B78A-ADB9B20EEC0D}"/>
              </a:ext>
            </a:extLst>
          </p:cNvPr>
          <p:cNvSpPr txBox="1"/>
          <p:nvPr/>
        </p:nvSpPr>
        <p:spPr>
          <a:xfrm>
            <a:off x="9197788" y="4733364"/>
            <a:ext cx="2465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Hari prasad Gajurel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f868c4f2e8_1_0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MY" sz="3200" dirty="0"/>
              <a:t>Table of content</a:t>
            </a:r>
            <a:endParaRPr sz="3200" dirty="0"/>
          </a:p>
        </p:txBody>
      </p:sp>
      <p:sp>
        <p:nvSpPr>
          <p:cNvPr id="108" name="Google Shape;108;g2f868c4f2e8_1_0"/>
          <p:cNvSpPr txBox="1">
            <a:spLocks noGrp="1"/>
          </p:cNvSpPr>
          <p:nvPr>
            <p:ph type="body" idx="1"/>
          </p:nvPr>
        </p:nvSpPr>
        <p:spPr>
          <a:xfrm>
            <a:off x="838200" y="1976675"/>
            <a:ext cx="10515600" cy="4065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Font typeface="Wingdings" panose="05000000000000000000" pitchFamily="2" charset="2"/>
              <a:buChar char="v"/>
            </a:pPr>
            <a:r>
              <a:rPr lang="en-US" sz="2400" dirty="0"/>
              <a:t>Visualization of slice</a:t>
            </a:r>
          </a:p>
          <a:p>
            <a:pPr marL="342900" lvl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Font typeface="Wingdings" panose="05000000000000000000" pitchFamily="2" charset="2"/>
              <a:buChar char="v"/>
            </a:pPr>
            <a:r>
              <a:rPr lang="en-US" sz="2400" dirty="0"/>
              <a:t>Visualization of loss and accuracy curve</a:t>
            </a:r>
          </a:p>
          <a:p>
            <a:pPr marL="342900" lvl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Font typeface="Wingdings" panose="05000000000000000000" pitchFamily="2" charset="2"/>
              <a:buChar char="v"/>
            </a:pPr>
            <a:r>
              <a:rPr lang="en-US" sz="2400" dirty="0"/>
              <a:t>Further work</a:t>
            </a:r>
          </a:p>
        </p:txBody>
      </p:sp>
      <p:sp>
        <p:nvSpPr>
          <p:cNvPr id="109" name="Google Shape;109;g2f868c4f2e8_1_0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0" name="Google Shape;110;g2f868c4f2e8_1_0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01/10/2025</a:t>
            </a:r>
            <a:endParaRPr dirty="0"/>
          </a:p>
        </p:txBody>
      </p:sp>
      <p:sp>
        <p:nvSpPr>
          <p:cNvPr id="111" name="Google Shape;111;g2f868c4f2e8_1_0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Copyright © AnK Pvt. Ltd. All Rights Reserved.</a:t>
            </a:r>
            <a:endParaRPr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f868c4f2e8_1_10"/>
          <p:cNvSpPr txBox="1">
            <a:spLocks noGrp="1"/>
          </p:cNvSpPr>
          <p:nvPr>
            <p:ph type="body" idx="1"/>
          </p:nvPr>
        </p:nvSpPr>
        <p:spPr>
          <a:xfrm>
            <a:off x="497305" y="136546"/>
            <a:ext cx="10856495" cy="590542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endParaRPr lang="en-MY" sz="1400" dirty="0"/>
          </a:p>
          <a:p>
            <a:pPr marL="0" lvl="0" indent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endParaRPr sz="1640" dirty="0"/>
          </a:p>
        </p:txBody>
      </p:sp>
      <p:sp>
        <p:nvSpPr>
          <p:cNvPr id="119" name="Google Shape;119;g2f868c4f2e8_1_10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0" name="Google Shape;120;g2f868c4f2e8_1_10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01/10/2025</a:t>
            </a:r>
            <a:endParaRPr dirty="0"/>
          </a:p>
        </p:txBody>
      </p:sp>
      <p:sp>
        <p:nvSpPr>
          <p:cNvPr id="121" name="Google Shape;121;g2f868c4f2e8_1_10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Copyright © AnK Pvt. Ltd. All Rights Reserved.</a:t>
            </a:r>
            <a:endParaRPr>
              <a:solidFill>
                <a:srgbClr val="7F7F7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C3DB68-C5FE-2620-3442-D44CB6D99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03856"/>
            <a:ext cx="9883111" cy="31743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9CE5EA-365A-8E35-0512-610A2839D06A}"/>
              </a:ext>
            </a:extLst>
          </p:cNvPr>
          <p:cNvSpPr txBox="1"/>
          <p:nvPr/>
        </p:nvSpPr>
        <p:spPr>
          <a:xfrm>
            <a:off x="604717" y="345022"/>
            <a:ext cx="9023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/>
              <a:t>Slice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f868c4f2e8_1_19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MY" dirty="0"/>
              <a:t>Training Performance</a:t>
            </a:r>
            <a:endParaRPr dirty="0"/>
          </a:p>
        </p:txBody>
      </p:sp>
      <p:sp>
        <p:nvSpPr>
          <p:cNvPr id="128" name="Google Shape;128;g2f868c4f2e8_1_19"/>
          <p:cNvSpPr txBox="1">
            <a:spLocks noGrp="1"/>
          </p:cNvSpPr>
          <p:nvPr>
            <p:ph type="body" idx="1"/>
          </p:nvPr>
        </p:nvSpPr>
        <p:spPr>
          <a:xfrm>
            <a:off x="838200" y="1976675"/>
            <a:ext cx="10515600" cy="4065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100" dirty="0"/>
              <a:t>.</a:t>
            </a:r>
            <a:endParaRPr sz="1600" dirty="0"/>
          </a:p>
        </p:txBody>
      </p:sp>
      <p:sp>
        <p:nvSpPr>
          <p:cNvPr id="129" name="Google Shape;129;g2f868c4f2e8_1_19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0" name="Google Shape;130;g2f868c4f2e8_1_19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01/10/2025</a:t>
            </a:r>
            <a:endParaRPr dirty="0"/>
          </a:p>
        </p:txBody>
      </p:sp>
      <p:sp>
        <p:nvSpPr>
          <p:cNvPr id="131" name="Google Shape;131;g2f868c4f2e8_1_19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Copyright © AnK Pvt. Ltd. All Rights Reserved.</a:t>
            </a:r>
            <a:endParaRPr>
              <a:solidFill>
                <a:srgbClr val="7F7F7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E7D11E-49EC-21DE-B703-697A29A03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06" y="1815756"/>
            <a:ext cx="4925394" cy="45405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73F23C-AB07-5DC3-189B-E884CED84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648" y="1976675"/>
            <a:ext cx="5639504" cy="43796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868c4f2e8_1_28"/>
          <p:cNvSpPr txBox="1">
            <a:spLocks noGrp="1"/>
          </p:cNvSpPr>
          <p:nvPr>
            <p:ph type="body" idx="1"/>
          </p:nvPr>
        </p:nvSpPr>
        <p:spPr>
          <a:xfrm>
            <a:off x="838200" y="1976675"/>
            <a:ext cx="10515600" cy="4065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endParaRPr sz="1640" dirty="0"/>
          </a:p>
        </p:txBody>
      </p:sp>
      <p:sp>
        <p:nvSpPr>
          <p:cNvPr id="139" name="Google Shape;139;g2f868c4f2e8_1_28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0" name="Google Shape;140;g2f868c4f2e8_1_28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01/10/2025</a:t>
            </a:r>
            <a:endParaRPr dirty="0"/>
          </a:p>
        </p:txBody>
      </p:sp>
      <p:sp>
        <p:nvSpPr>
          <p:cNvPr id="141" name="Google Shape;141;g2f868c4f2e8_1_28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Copyright © AnK Pvt. Ltd. All Rights Reserved.</a:t>
            </a:r>
            <a:endParaRPr>
              <a:solidFill>
                <a:srgbClr val="7F7F7F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6E8BE1-37A9-A878-DFB6-D3C3DDC7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Model Evaluation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B462D1-D6C6-BD41-81C0-7D10434A5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76675"/>
            <a:ext cx="8287907" cy="27150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f868c4f2e8_1_37"/>
          <p:cNvSpPr txBox="1">
            <a:spLocks noGrp="1"/>
          </p:cNvSpPr>
          <p:nvPr>
            <p:ph type="body" idx="1"/>
          </p:nvPr>
        </p:nvSpPr>
        <p:spPr>
          <a:xfrm>
            <a:off x="838200" y="1976675"/>
            <a:ext cx="10515600" cy="4065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Font typeface="Wingdings" panose="05000000000000000000" pitchFamily="2" charset="2"/>
              <a:buChar char="q"/>
            </a:pPr>
            <a:r>
              <a:rPr lang="en-MY" sz="1640" dirty="0"/>
              <a:t>Apply the model in the glass forming process.</a:t>
            </a:r>
          </a:p>
          <a:p>
            <a:pPr marL="285750" lvl="0" indent="-28575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Font typeface="Wingdings" panose="05000000000000000000" pitchFamily="2" charset="2"/>
              <a:buChar char="q"/>
            </a:pPr>
            <a:r>
              <a:rPr lang="en-MY" sz="1640" dirty="0"/>
              <a:t>This model is in static but I will try in transient</a:t>
            </a:r>
          </a:p>
          <a:p>
            <a:pPr marL="285750" lvl="0" indent="-28575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Font typeface="Wingdings" panose="05000000000000000000" pitchFamily="2" charset="2"/>
              <a:buChar char="q"/>
            </a:pPr>
            <a:r>
              <a:rPr lang="en-MY" sz="1640" dirty="0"/>
              <a:t> Learn the method of expert </a:t>
            </a:r>
            <a:endParaRPr sz="1640" dirty="0"/>
          </a:p>
        </p:txBody>
      </p:sp>
      <p:sp>
        <p:nvSpPr>
          <p:cNvPr id="149" name="Google Shape;149;g2f868c4f2e8_1_37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50" name="Google Shape;150;g2f868c4f2e8_1_37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01/10/2025</a:t>
            </a:r>
            <a:endParaRPr dirty="0"/>
          </a:p>
        </p:txBody>
      </p:sp>
      <p:sp>
        <p:nvSpPr>
          <p:cNvPr id="151" name="Google Shape;151;g2f868c4f2e8_1_37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Copyright © AnK Pvt. Ltd. All Rights Reserved.</a:t>
            </a:r>
            <a:endParaRPr>
              <a:solidFill>
                <a:srgbClr val="7F7F7F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9F019A-87E2-E39F-C8C5-85ADDCA64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Further 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868c4f2e8_1_46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60" name="Google Shape;160;g2f868c4f2e8_1_46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01/10/2025</a:t>
            </a:r>
            <a:endParaRPr dirty="0"/>
          </a:p>
        </p:txBody>
      </p:sp>
      <p:sp>
        <p:nvSpPr>
          <p:cNvPr id="161" name="Google Shape;161;g2f868c4f2e8_1_46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Copyright © AnK Pvt. Ltd. All Rights Reserved.</a:t>
            </a:r>
            <a:endParaRPr>
              <a:solidFill>
                <a:srgbClr val="7F7F7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93FE06-D561-D921-4519-B6B7CB13C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930" y="2508041"/>
            <a:ext cx="1895740" cy="590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358D36-4FBE-859D-1337-0A11F6C35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930" y="4170218"/>
            <a:ext cx="1810003" cy="400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73EA31-09D8-2BCF-118A-6663F64D00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930" y="5427526"/>
            <a:ext cx="1743318" cy="42868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77B34-9958-A0B5-BAA4-D797A9E4B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pPr marL="114300" indent="0">
              <a:buNone/>
            </a:pPr>
            <a:r>
              <a:rPr lang="en-MY" sz="4000" dirty="0"/>
              <a:t>                        Thank you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e4dff18ef_2_7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00" name="Google Shape;100;g2ee4dff18ef_2_7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93729-E5A1-67EC-7D4D-FEAC38B23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MY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e4dff18ef_2_7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00" name="Google Shape;100;g2ee4dff18ef_2_7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080F38-84E0-C4C9-0B86-601B91204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859" y="1990165"/>
            <a:ext cx="2448267" cy="5297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C85E27-4F47-9003-1C0F-340CFC682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42" y="3424989"/>
            <a:ext cx="3258005" cy="352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FE4683-0B68-0A6E-37AE-E7882ABC63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112" y="5376827"/>
            <a:ext cx="1857634" cy="390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3EB2E9-7F28-50C8-7646-11C6AB24F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9411" y="2401439"/>
            <a:ext cx="1867161" cy="4477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E43E14-7075-D9B6-96AA-05AB2AF180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489" y="4291926"/>
            <a:ext cx="2715004" cy="78115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5F594-8AAE-80FB-7267-F34927968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38778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ee4dff18ef_2_7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93729-E5A1-67EC-7D4D-FEAC38B23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MY" dirty="0"/>
          </a:p>
          <a:p>
            <a:pPr marL="114300" indent="0">
              <a:buNone/>
            </a:pPr>
            <a:endParaRPr lang="en-MY" dirty="0"/>
          </a:p>
          <a:p>
            <a:pPr marL="114300" indent="0">
              <a:buNone/>
            </a:pPr>
            <a:endParaRPr lang="en-MY" dirty="0"/>
          </a:p>
          <a:p>
            <a:pPr marL="114300" indent="0">
              <a:buNone/>
            </a:pPr>
            <a:endParaRPr lang="en-MY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0B1D9C-16ED-6AB6-8D0C-07752A0ED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869798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868c4f2e8_1_28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dirty="0"/>
              <a:t>Test case 2: 2D blood flow in a stenosis</a:t>
            </a:r>
            <a:endParaRPr sz="3200" dirty="0"/>
          </a:p>
        </p:txBody>
      </p:sp>
      <p:sp>
        <p:nvSpPr>
          <p:cNvPr id="138" name="Google Shape;138;g2f868c4f2e8_1_28"/>
          <p:cNvSpPr txBox="1">
            <a:spLocks noGrp="1"/>
          </p:cNvSpPr>
          <p:nvPr>
            <p:ph type="body" idx="1"/>
          </p:nvPr>
        </p:nvSpPr>
        <p:spPr>
          <a:xfrm>
            <a:off x="838200" y="1976675"/>
            <a:ext cx="10515600" cy="4065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endParaRPr sz="1640" dirty="0"/>
          </a:p>
        </p:txBody>
      </p:sp>
      <p:sp>
        <p:nvSpPr>
          <p:cNvPr id="139" name="Google Shape;139;g2f868c4f2e8_1_28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40" name="Google Shape;140;g2f868c4f2e8_1_28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09/23/2024</a:t>
            </a:r>
            <a:endParaRPr/>
          </a:p>
        </p:txBody>
      </p:sp>
      <p:sp>
        <p:nvSpPr>
          <p:cNvPr id="141" name="Google Shape;141;g2f868c4f2e8_1_28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Copyright © AnK Pvt. Ltd. All Rights Reserved.</a:t>
            </a:r>
            <a:endParaRPr>
              <a:solidFill>
                <a:srgbClr val="7F7F7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8DD44-3E1B-DAC1-24A4-01B6473BF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84" y="1976675"/>
            <a:ext cx="8954016" cy="343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5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868c4f2e8_1_28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dirty="0"/>
              <a:t>Test case 3: Parameter identification (viscosity) </a:t>
            </a:r>
            <a:endParaRPr sz="3200" dirty="0"/>
          </a:p>
        </p:txBody>
      </p:sp>
      <p:sp>
        <p:nvSpPr>
          <p:cNvPr id="139" name="Google Shape;139;g2f868c4f2e8_1_28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0" name="Google Shape;140;g2f868c4f2e8_1_28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09/23/2024</a:t>
            </a:r>
            <a:endParaRPr/>
          </a:p>
        </p:txBody>
      </p:sp>
      <p:sp>
        <p:nvSpPr>
          <p:cNvPr id="141" name="Google Shape;141;g2f868c4f2e8_1_28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Copyright © AnK Pvt. Ltd. All Rights Reserved.</a:t>
            </a:r>
            <a:endParaRPr>
              <a:solidFill>
                <a:srgbClr val="7F7F7F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21310-0B63-C6C3-407F-4044DB3A4A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76438"/>
            <a:ext cx="10515600" cy="406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Viscosity (µ) treated as an unknown parameter in solving the 2D stenosis problem using inverse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Relevant to hemorheological disorders (e.g., diabetes), assumed Newtonian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rate for viscosity set 10x smaller than that for velocity and pressure. </a:t>
            </a:r>
          </a:p>
        </p:txBody>
      </p:sp>
    </p:spTree>
    <p:extLst>
      <p:ext uri="{BB962C8B-B14F-4D97-AF65-F5344CB8AC3E}">
        <p14:creationId xmlns:p14="http://schemas.microsoft.com/office/powerpoint/2010/main" val="3165468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868c4f2e8_1_28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MY" dirty="0"/>
              <a:t>Reference</a:t>
            </a:r>
            <a:endParaRPr dirty="0"/>
          </a:p>
        </p:txBody>
      </p:sp>
      <p:sp>
        <p:nvSpPr>
          <p:cNvPr id="138" name="Google Shape;138;g2f868c4f2e8_1_28"/>
          <p:cNvSpPr txBox="1">
            <a:spLocks noGrp="1"/>
          </p:cNvSpPr>
          <p:nvPr>
            <p:ph type="body" idx="1"/>
          </p:nvPr>
        </p:nvSpPr>
        <p:spPr>
          <a:xfrm>
            <a:off x="838200" y="1976675"/>
            <a:ext cx="10515600" cy="4065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MY" sz="1200" dirty="0"/>
              <a:t>[1] A. </a:t>
            </a:r>
            <a:r>
              <a:rPr lang="en-MY" sz="1200" dirty="0" err="1"/>
              <a:t>Arzani</a:t>
            </a:r>
            <a:r>
              <a:rPr lang="en-MY" sz="1200" dirty="0"/>
              <a:t>, A. M. </a:t>
            </a:r>
            <a:r>
              <a:rPr lang="en-MY" sz="1200" dirty="0" err="1"/>
              <a:t>Gambaruto</a:t>
            </a:r>
            <a:r>
              <a:rPr lang="en-MY" sz="1200" dirty="0"/>
              <a:t>, G. Chen, and S. C. </a:t>
            </a:r>
            <a:r>
              <a:rPr lang="en-MY" sz="1200" dirty="0" err="1"/>
              <a:t>Shadden</a:t>
            </a:r>
            <a:r>
              <a:rPr lang="en-MY" sz="1200" dirty="0"/>
              <a:t>. </a:t>
            </a:r>
            <a:r>
              <a:rPr lang="en-MY" sz="1200" dirty="0" err="1"/>
              <a:t>Lagrangian</a:t>
            </a:r>
            <a:r>
              <a:rPr lang="en-MY" sz="1200" dirty="0"/>
              <a:t> wall shear stress structures and near-wall transport in high-Schmidt-number aneurysmal flows. Journal of Fluid Mechanics, 790:158–172, 2016.</a:t>
            </a:r>
          </a:p>
          <a:p>
            <a:pPr marL="0" lvl="0" indent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MY" sz="1200" dirty="0"/>
              <a:t> [2] M. </a:t>
            </a:r>
            <a:r>
              <a:rPr lang="en-MY" sz="1200" dirty="0" err="1"/>
              <a:t>Mahmoudi</a:t>
            </a:r>
            <a:r>
              <a:rPr lang="en-MY" sz="1200" dirty="0"/>
              <a:t>, A. </a:t>
            </a:r>
            <a:r>
              <a:rPr lang="en-MY" sz="1200" dirty="0" err="1"/>
              <a:t>Farghadan</a:t>
            </a:r>
            <a:r>
              <a:rPr lang="en-MY" sz="1200" dirty="0"/>
              <a:t>, D. R. McConnell, A. J. Barker, J. J. Wentzel, M. J. </a:t>
            </a:r>
            <a:r>
              <a:rPr lang="en-MY" sz="1200" dirty="0" err="1"/>
              <a:t>Budoff</a:t>
            </a:r>
            <a:r>
              <a:rPr lang="en-MY" sz="1200" dirty="0"/>
              <a:t>, and A. </a:t>
            </a:r>
            <a:r>
              <a:rPr lang="en-MY" sz="1200" dirty="0" err="1"/>
              <a:t>Arzani</a:t>
            </a:r>
            <a:r>
              <a:rPr lang="en-MY" sz="1200" dirty="0"/>
              <a:t>. The story of wall shear stress in coronary artery atherosclerosis: biochemical transport and </a:t>
            </a:r>
            <a:r>
              <a:rPr lang="en-MY" sz="1200" dirty="0" err="1"/>
              <a:t>mechanotransduction</a:t>
            </a:r>
            <a:r>
              <a:rPr lang="en-MY" sz="1200" dirty="0"/>
              <a:t>. Journal of Biomechanical Engineering, 143(4), 2020.</a:t>
            </a:r>
          </a:p>
          <a:p>
            <a:pPr marL="0" lvl="0" indent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MY" sz="1200" dirty="0"/>
              <a:t> [3] H. </a:t>
            </a:r>
            <a:r>
              <a:rPr lang="en-MY" sz="1200" dirty="0" err="1"/>
              <a:t>Samady</a:t>
            </a:r>
            <a:r>
              <a:rPr lang="en-MY" sz="1200" dirty="0"/>
              <a:t>, P. </a:t>
            </a:r>
            <a:r>
              <a:rPr lang="en-MY" sz="1200" dirty="0" err="1"/>
              <a:t>Eshtehardi</a:t>
            </a:r>
            <a:r>
              <a:rPr lang="en-MY" sz="1200" dirty="0"/>
              <a:t>, M. C. McDaniel, J. Suo, S. S. Dhawan, C. Maynard, L. H. Timmins, A. A. </a:t>
            </a:r>
            <a:r>
              <a:rPr lang="en-MY" sz="1200" dirty="0" err="1"/>
              <a:t>Quyyumi</a:t>
            </a:r>
            <a:r>
              <a:rPr lang="en-MY" sz="1200" dirty="0"/>
              <a:t>, and D. P. Giddens. Coronary artery wall shear stress is associated with progression and transformation of atherosclerotic plaque and arterial </a:t>
            </a:r>
            <a:r>
              <a:rPr lang="en-MY" sz="1200" dirty="0" err="1"/>
              <a:t>remodeling</a:t>
            </a:r>
            <a:r>
              <a:rPr lang="en-MY" sz="1200" dirty="0"/>
              <a:t> in patients with coronary artery disease. Circulation, 124(7):779–788, 2011.</a:t>
            </a:r>
            <a:endParaRPr sz="1640" dirty="0"/>
          </a:p>
        </p:txBody>
      </p:sp>
      <p:sp>
        <p:nvSpPr>
          <p:cNvPr id="139" name="Google Shape;139;g2f868c4f2e8_1_28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40" name="Google Shape;140;g2f868c4f2e8_1_28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09/23/2024</a:t>
            </a:r>
            <a:endParaRPr/>
          </a:p>
        </p:txBody>
      </p:sp>
      <p:sp>
        <p:nvSpPr>
          <p:cNvPr id="141" name="Google Shape;141;g2f868c4f2e8_1_28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Copyright © AnK Pvt. Ltd. All Rights Reserved.</a:t>
            </a:r>
            <a:endParaRPr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599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868c4f2e8_1_28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MY" sz="3200" dirty="0"/>
              <a:t>Test case 1: 1D advection-diffusion transport </a:t>
            </a:r>
            <a:endParaRPr sz="3200" dirty="0"/>
          </a:p>
        </p:txBody>
      </p:sp>
      <p:sp>
        <p:nvSpPr>
          <p:cNvPr id="138" name="Google Shape;138;g2f868c4f2e8_1_28"/>
          <p:cNvSpPr txBox="1">
            <a:spLocks noGrp="1"/>
          </p:cNvSpPr>
          <p:nvPr>
            <p:ph type="body" idx="1"/>
          </p:nvPr>
        </p:nvSpPr>
        <p:spPr>
          <a:xfrm>
            <a:off x="838200" y="1976675"/>
            <a:ext cx="10515600" cy="4065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MY" sz="1640" dirty="0"/>
              <a:t>Consider the steady advection –diffusion equation:</a:t>
            </a:r>
          </a:p>
          <a:p>
            <a:pPr marL="0" lvl="0" indent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endParaRPr lang="en-MY" sz="1640" dirty="0"/>
          </a:p>
          <a:p>
            <a:pPr marL="0" lvl="0" indent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endParaRPr lang="en-MY" sz="1640" dirty="0"/>
          </a:p>
          <a:p>
            <a:pPr marL="0" lvl="0" indent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endParaRPr lang="en-MY" sz="1640" dirty="0"/>
          </a:p>
          <a:p>
            <a:pPr marL="0" lvl="0" indent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MY" sz="1640" dirty="0"/>
              <a:t>For the given boundary condition we can obtain this analytical solution.</a:t>
            </a:r>
          </a:p>
          <a:p>
            <a:pPr marL="0" lvl="0" indent="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endParaRPr sz="1640" dirty="0"/>
          </a:p>
        </p:txBody>
      </p:sp>
      <p:sp>
        <p:nvSpPr>
          <p:cNvPr id="139" name="Google Shape;139;g2f868c4f2e8_1_28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40" name="Google Shape;140;g2f868c4f2e8_1_28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09/23/2024</a:t>
            </a:r>
            <a:endParaRPr/>
          </a:p>
        </p:txBody>
      </p:sp>
      <p:sp>
        <p:nvSpPr>
          <p:cNvPr id="141" name="Google Shape;141;g2f868c4f2e8_1_28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Copyright © AnK Pvt. Ltd. All Rights Reserved.</a:t>
            </a:r>
            <a:endParaRPr>
              <a:solidFill>
                <a:srgbClr val="7F7F7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5CF346-2E9D-89B9-18A4-19E338291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63" y="2557426"/>
            <a:ext cx="1400370" cy="5239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6AF0AA-D564-474B-EA2C-C5D09C25F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63" y="4009325"/>
            <a:ext cx="2276793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29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510</Words>
  <Application>Microsoft Office PowerPoint</Application>
  <PresentationFormat>Widescreen</PresentationFormat>
  <Paragraphs>86</Paragraphs>
  <Slides>14</Slides>
  <Notes>14</Notes>
  <HiddenSlides>4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Wingdings</vt:lpstr>
      <vt:lpstr>Office Theme</vt:lpstr>
      <vt:lpstr>AnK [Accelerated Komputing]</vt:lpstr>
      <vt:lpstr>Table of content</vt:lpstr>
      <vt:lpstr>PowerPoint Presentation</vt:lpstr>
      <vt:lpstr>Training Performance</vt:lpstr>
      <vt:lpstr>Model Evaluation </vt:lpstr>
      <vt:lpstr>Further work</vt:lpstr>
      <vt:lpstr>PowerPoint Presentation</vt:lpstr>
      <vt:lpstr>PowerPoint Presentation</vt:lpstr>
      <vt:lpstr>PowerPoint Presentation</vt:lpstr>
      <vt:lpstr>PowerPoint Presentation</vt:lpstr>
      <vt:lpstr>Test case 2: 2D blood flow in a stenosis</vt:lpstr>
      <vt:lpstr>Test case 3: Parameter identification (viscosity) </vt:lpstr>
      <vt:lpstr>Reference</vt:lpstr>
      <vt:lpstr>Test case 1: 1D advection-diffusion transport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レグミ　アミット</dc:creator>
  <cp:lastModifiedBy>Hari prasad Gajurel</cp:lastModifiedBy>
  <cp:revision>2</cp:revision>
  <dcterms:created xsi:type="dcterms:W3CDTF">2024-06-20T00:28:20Z</dcterms:created>
  <dcterms:modified xsi:type="dcterms:W3CDTF">2025-01-10T12:03:43Z</dcterms:modified>
</cp:coreProperties>
</file>